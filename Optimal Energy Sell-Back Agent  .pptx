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C4A31B-CDD6-41FC-A342-50747A2E4362}" v="1" dt="2026-04-01T08:52:43.4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vika merugu" userId="b34f19db69bebe76" providerId="LiveId" clId="{BACD13C1-7B89-4BA6-89B3-EF3AE15F1E66}"/>
    <pc:docChg chg="custSel modSld">
      <pc:chgData name="alavika merugu" userId="b34f19db69bebe76" providerId="LiveId" clId="{BACD13C1-7B89-4BA6-89B3-EF3AE15F1E66}" dt="2026-04-01T08:52:58.443" v="34" actId="27636"/>
      <pc:docMkLst>
        <pc:docMk/>
      </pc:docMkLst>
      <pc:sldChg chg="modSp mod">
        <pc:chgData name="alavika merugu" userId="b34f19db69bebe76" providerId="LiveId" clId="{BACD13C1-7B89-4BA6-89B3-EF3AE15F1E66}" dt="2026-04-01T08:52:43.438" v="32"/>
        <pc:sldMkLst>
          <pc:docMk/>
          <pc:sldMk cId="2844999536" sldId="256"/>
        </pc:sldMkLst>
        <pc:spChg chg="mod">
          <ac:chgData name="alavika merugu" userId="b34f19db69bebe76" providerId="LiveId" clId="{BACD13C1-7B89-4BA6-89B3-EF3AE15F1E66}" dt="2026-04-01T08:51:50.246" v="29" actId="27636"/>
          <ac:spMkLst>
            <pc:docMk/>
            <pc:sldMk cId="2844999536" sldId="256"/>
            <ac:spMk id="2" creationId="{214CFDB6-65A3-1BAB-E974-E25295666909}"/>
          </ac:spMkLst>
        </pc:spChg>
        <pc:spChg chg="mod">
          <ac:chgData name="alavika merugu" userId="b34f19db69bebe76" providerId="LiveId" clId="{BACD13C1-7B89-4BA6-89B3-EF3AE15F1E66}" dt="2026-04-01T08:52:43.438" v="32"/>
          <ac:spMkLst>
            <pc:docMk/>
            <pc:sldMk cId="2844999536" sldId="256"/>
            <ac:spMk id="3" creationId="{FDC6FB71-1AE2-1EFB-DE23-B54FE94A76F1}"/>
          </ac:spMkLst>
        </pc:spChg>
      </pc:sldChg>
      <pc:sldChg chg="modSp mod">
        <pc:chgData name="alavika merugu" userId="b34f19db69bebe76" providerId="LiveId" clId="{BACD13C1-7B89-4BA6-89B3-EF3AE15F1E66}" dt="2026-04-01T08:52:58.443" v="34" actId="27636"/>
        <pc:sldMkLst>
          <pc:docMk/>
          <pc:sldMk cId="2761844279" sldId="258"/>
        </pc:sldMkLst>
        <pc:spChg chg="mod">
          <ac:chgData name="alavika merugu" userId="b34f19db69bebe76" providerId="LiveId" clId="{BACD13C1-7B89-4BA6-89B3-EF3AE15F1E66}" dt="2026-04-01T08:52:58.443" v="34" actId="27636"/>
          <ac:spMkLst>
            <pc:docMk/>
            <pc:sldMk cId="2761844279" sldId="258"/>
            <ac:spMk id="3" creationId="{84C86F5D-6866-514E-5E48-AA199A4C06A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3897E1-FB5D-46A6-BD86-BEF67D93CBDD}" type="datetimeFigureOut">
              <a:rPr lang="en-IN" smtClean="0"/>
              <a:t>01-04-2026</a:t>
            </a:fld>
            <a:endParaRPr lang="en-IN"/>
          </a:p>
        </p:txBody>
      </p:sp>
      <p:sp>
        <p:nvSpPr>
          <p:cNvPr id="5" name="Footer Placeholder 4"/>
          <p:cNvSpPr>
            <a:spLocks noGrp="1"/>
          </p:cNvSpPr>
          <p:nvPr>
            <p:ph type="ftr" sz="quarter" idx="11"/>
          </p:nvPr>
        </p:nvSpPr>
        <p:spPr>
          <a:xfrm>
            <a:off x="1451579" y="329307"/>
            <a:ext cx="5626774" cy="309201"/>
          </a:xfrm>
        </p:spPr>
        <p:txBody>
          <a:bodyPr/>
          <a:lstStyle/>
          <a:p>
            <a:endParaRPr lang="en-IN"/>
          </a:p>
        </p:txBody>
      </p:sp>
      <p:sp>
        <p:nvSpPr>
          <p:cNvPr id="6" name="Slide Number Placeholder 5"/>
          <p:cNvSpPr>
            <a:spLocks noGrp="1"/>
          </p:cNvSpPr>
          <p:nvPr>
            <p:ph type="sldNum" sz="quarter" idx="12"/>
          </p:nvPr>
        </p:nvSpPr>
        <p:spPr>
          <a:xfrm>
            <a:off x="476834" y="798973"/>
            <a:ext cx="811019" cy="503578"/>
          </a:xfrm>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3999017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3897E1-FB5D-46A6-BD86-BEF67D93CBD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3944103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3897E1-FB5D-46A6-BD86-BEF67D93CBD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82601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3897E1-FB5D-46A6-BD86-BEF67D93CBD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61484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3897E1-FB5D-46A6-BD86-BEF67D93CBDD}" type="datetimeFigureOut">
              <a:rPr lang="en-IN" smtClean="0"/>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1948980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3897E1-FB5D-46A6-BD86-BEF67D93CBDD}"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4100059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3897E1-FB5D-46A6-BD86-BEF67D93CBDD}" type="datetimeFigureOut">
              <a:rPr lang="en-IN" smtClean="0"/>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3611729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3897E1-FB5D-46A6-BD86-BEF67D93CBD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176232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43897E1-FB5D-46A6-BD86-BEF67D93CBDD}" type="datetimeFigureOut">
              <a:rPr lang="en-IN" smtClean="0"/>
              <a:t>01-04-2026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1951694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3897E1-FB5D-46A6-BD86-BEF67D93CBD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4174923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3897E1-FB5D-46A6-BD86-BEF67D93CBD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7F7516-C747-4938-B464-B51E20D2266A}" type="slidenum">
              <a:rPr lang="en-IN" smtClean="0"/>
              <a:t>‹#›</a:t>
            </a:fld>
            <a:endParaRPr lang="en-IN"/>
          </a:p>
        </p:txBody>
      </p:sp>
    </p:spTree>
    <p:extLst>
      <p:ext uri="{BB962C8B-B14F-4D97-AF65-F5344CB8AC3E}">
        <p14:creationId xmlns:p14="http://schemas.microsoft.com/office/powerpoint/2010/main" val="2094435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43897E1-FB5D-46A6-BD86-BEF67D93CBDD}" type="datetimeFigureOut">
              <a:rPr lang="en-IN" smtClean="0"/>
              <a:t>01-04-2026</a:t>
            </a:fld>
            <a:endParaRPr lang="en-IN"/>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27F7516-C747-4938-B464-B51E20D2266A}" type="slidenum">
              <a:rPr lang="en-IN" smtClean="0"/>
              <a:t>‹#›</a:t>
            </a:fld>
            <a:endParaRPr lang="en-IN"/>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9196162"/>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FDB6-65A3-1BAB-E974-E25295666909}"/>
              </a:ext>
            </a:extLst>
          </p:cNvPr>
          <p:cNvSpPr>
            <a:spLocks noGrp="1"/>
          </p:cNvSpPr>
          <p:nvPr>
            <p:ph type="ctrTitle"/>
          </p:nvPr>
        </p:nvSpPr>
        <p:spPr>
          <a:xfrm>
            <a:off x="1774424" y="802299"/>
            <a:ext cx="8204464" cy="1761998"/>
          </a:xfrm>
        </p:spPr>
        <p:txBody>
          <a:bodyPr>
            <a:normAutofit fontScale="90000"/>
          </a:bodyPr>
          <a:lstStyle/>
          <a:p>
            <a:r>
              <a:rPr lang="en-IN" sz="3600" b="1" dirty="0"/>
              <a:t>Optimal Energy Sell-Back Agent</a:t>
            </a:r>
            <a:br>
              <a:rPr lang="en-IN" b="1" dirty="0"/>
            </a:br>
            <a:endParaRPr lang="en-IN" dirty="0"/>
          </a:p>
        </p:txBody>
      </p:sp>
      <p:sp>
        <p:nvSpPr>
          <p:cNvPr id="3" name="Subtitle 2">
            <a:extLst>
              <a:ext uri="{FF2B5EF4-FFF2-40B4-BE49-F238E27FC236}">
                <a16:creationId xmlns:a16="http://schemas.microsoft.com/office/drawing/2014/main" id="{FDC6FB71-1AE2-1EFB-DE23-B54FE94A76F1}"/>
              </a:ext>
            </a:extLst>
          </p:cNvPr>
          <p:cNvSpPr>
            <a:spLocks noGrp="1"/>
          </p:cNvSpPr>
          <p:nvPr>
            <p:ph type="subTitle" idx="1"/>
          </p:nvPr>
        </p:nvSpPr>
        <p:spPr>
          <a:xfrm>
            <a:off x="1510748" y="2097157"/>
            <a:ext cx="9157252" cy="3796747"/>
          </a:xfrm>
        </p:spPr>
        <p:txBody>
          <a:bodyPr>
            <a:normAutofit fontScale="85000" lnSpcReduction="20000"/>
          </a:bodyPr>
          <a:lstStyle/>
          <a:p>
            <a:r>
              <a:rPr lang="en-IN" cap="small" dirty="0"/>
              <a:t>Title: Smart Energy Trading</a:t>
            </a:r>
            <a:endParaRPr lang="en-IN" dirty="0"/>
          </a:p>
          <a:p>
            <a:br>
              <a:rPr lang="en-IN" cap="small" dirty="0"/>
            </a:br>
            <a:r>
              <a:rPr lang="en-IN" cap="small" dirty="0"/>
              <a:t>Subtitle: Forecasting &amp; Optimization for Smart Energy Trading</a:t>
            </a:r>
            <a:br>
              <a:rPr lang="en-IN" cap="small" dirty="0"/>
            </a:br>
            <a:endParaRPr lang="en-IN" dirty="0"/>
          </a:p>
          <a:p>
            <a:r>
              <a:rPr lang="en-IN" cap="small" dirty="0"/>
              <a:t>Presented by: </a:t>
            </a:r>
            <a:endParaRPr lang="en-IN" dirty="0"/>
          </a:p>
          <a:p>
            <a:r>
              <a:rPr lang="en-IN" cap="small" dirty="0"/>
              <a:t>Abinash </a:t>
            </a:r>
            <a:r>
              <a:rPr lang="en-IN" cap="small" dirty="0" err="1"/>
              <a:t>kar</a:t>
            </a:r>
            <a:endParaRPr lang="en-IN" cap="small" dirty="0"/>
          </a:p>
          <a:p>
            <a:r>
              <a:rPr lang="en-IN" dirty="0"/>
              <a:t>VAMSHI</a:t>
            </a:r>
          </a:p>
          <a:p>
            <a:r>
              <a:rPr lang="en-IN" cap="small" dirty="0"/>
              <a:t>Vinay Kumar</a:t>
            </a:r>
            <a:endParaRPr lang="en-IN" dirty="0"/>
          </a:p>
          <a:p>
            <a:r>
              <a:rPr lang="en-IN" cap="small" dirty="0" err="1"/>
              <a:t>Hazrathpasha</a:t>
            </a:r>
            <a:endParaRPr lang="en-IN" cap="small" dirty="0"/>
          </a:p>
          <a:p>
            <a:r>
              <a:rPr lang="en-IN" dirty="0"/>
              <a:t>ALAVIKA</a:t>
            </a:r>
          </a:p>
          <a:p>
            <a:r>
              <a:rPr lang="en-IN" cap="small" dirty="0"/>
              <a:t>Sowmya</a:t>
            </a:r>
            <a:endParaRPr lang="en-IN" dirty="0"/>
          </a:p>
          <a:p>
            <a:endParaRPr lang="en-IN" dirty="0"/>
          </a:p>
          <a:p>
            <a:endParaRPr lang="en-IN" dirty="0"/>
          </a:p>
        </p:txBody>
      </p:sp>
    </p:spTree>
    <p:extLst>
      <p:ext uri="{BB962C8B-B14F-4D97-AF65-F5344CB8AC3E}">
        <p14:creationId xmlns:p14="http://schemas.microsoft.com/office/powerpoint/2010/main" val="2844999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8A89-D249-C097-57AD-4C8D27147205}"/>
              </a:ext>
            </a:extLst>
          </p:cNvPr>
          <p:cNvSpPr>
            <a:spLocks noGrp="1"/>
          </p:cNvSpPr>
          <p:nvPr>
            <p:ph type="title"/>
          </p:nvPr>
        </p:nvSpPr>
        <p:spPr/>
        <p:txBody>
          <a:bodyPr/>
          <a:lstStyle/>
          <a:p>
            <a:r>
              <a:rPr lang="en-IN" b="1" dirty="0"/>
              <a:t>ABSTRACT</a:t>
            </a:r>
            <a:br>
              <a:rPr lang="en-IN" b="1" dirty="0"/>
            </a:br>
            <a:endParaRPr lang="en-IN" dirty="0"/>
          </a:p>
        </p:txBody>
      </p:sp>
      <p:sp>
        <p:nvSpPr>
          <p:cNvPr id="3" name="Content Placeholder 2">
            <a:extLst>
              <a:ext uri="{FF2B5EF4-FFF2-40B4-BE49-F238E27FC236}">
                <a16:creationId xmlns:a16="http://schemas.microsoft.com/office/drawing/2014/main" id="{84C86F5D-6866-514E-5E48-AA199A4C06A2}"/>
              </a:ext>
            </a:extLst>
          </p:cNvPr>
          <p:cNvSpPr>
            <a:spLocks noGrp="1"/>
          </p:cNvSpPr>
          <p:nvPr>
            <p:ph idx="1"/>
          </p:nvPr>
        </p:nvSpPr>
        <p:spPr>
          <a:xfrm>
            <a:off x="1371601" y="1550504"/>
            <a:ext cx="9371194" cy="3915841"/>
          </a:xfrm>
        </p:spPr>
        <p:txBody>
          <a:bodyPr>
            <a:normAutofit fontScale="85000" lnSpcReduction="20000"/>
          </a:bodyPr>
          <a:lstStyle/>
          <a:p>
            <a:r>
              <a:rPr lang="en-IN" cap="small" dirty="0"/>
              <a:t>This project presents a smart energy trading system designed for solar panel users to maximize their profits. By using a time-series forecasting model (SARIMAX), the system predicts electricity prices based on historical data, demand, time, and seasonal patterns. It then identifies the optimal times to sell, store, or buy electricity. This approach improves decision-making, enhances energy efficiency, and supports sustainable energy usage.</a:t>
            </a:r>
            <a:endParaRPr lang="en-IN" dirty="0"/>
          </a:p>
          <a:p>
            <a:pPr marL="0" indent="0">
              <a:buNone/>
            </a:pPr>
            <a:r>
              <a:rPr lang="en-IN" cap="small" dirty="0"/>
              <a:t> </a:t>
            </a:r>
            <a:endParaRPr lang="en-IN" dirty="0"/>
          </a:p>
          <a:p>
            <a:pPr lvl="0"/>
            <a:r>
              <a:rPr lang="en-IN" cap="small" dirty="0"/>
              <a:t>Uses SARIMAX for price forecasting </a:t>
            </a:r>
            <a:endParaRPr lang="en-IN" dirty="0"/>
          </a:p>
          <a:p>
            <a:pPr lvl="0"/>
            <a:r>
              <a:rPr lang="en-IN" cap="small" dirty="0"/>
              <a:t>Predicts sell-back and buyback prices </a:t>
            </a:r>
            <a:endParaRPr lang="en-IN" dirty="0"/>
          </a:p>
          <a:p>
            <a:pPr lvl="0"/>
            <a:r>
              <a:rPr lang="en-IN" cap="small" dirty="0"/>
              <a:t>Optimizes energy trading decisions </a:t>
            </a:r>
            <a:endParaRPr lang="en-IN" dirty="0"/>
          </a:p>
          <a:p>
            <a:pPr lvl="0"/>
            <a:r>
              <a:rPr lang="en-IN" cap="small" dirty="0"/>
              <a:t>Maximizes profit and efficiency </a:t>
            </a:r>
            <a:endParaRPr lang="en-IN" dirty="0"/>
          </a:p>
          <a:p>
            <a:pPr lvl="0"/>
            <a:r>
              <a:rPr lang="en-IN" cap="small" dirty="0"/>
              <a:t>Supports sustainable energy systems</a:t>
            </a:r>
            <a:endParaRPr lang="en-IN" dirty="0"/>
          </a:p>
          <a:p>
            <a:endParaRPr lang="en-IN" dirty="0"/>
          </a:p>
        </p:txBody>
      </p:sp>
    </p:spTree>
    <p:extLst>
      <p:ext uri="{BB962C8B-B14F-4D97-AF65-F5344CB8AC3E}">
        <p14:creationId xmlns:p14="http://schemas.microsoft.com/office/powerpoint/2010/main" val="2761844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A29D6-2838-5DFB-76DF-DC752FD5A877}"/>
              </a:ext>
            </a:extLst>
          </p:cNvPr>
          <p:cNvSpPr>
            <a:spLocks noGrp="1"/>
          </p:cNvSpPr>
          <p:nvPr>
            <p:ph type="title"/>
          </p:nvPr>
        </p:nvSpPr>
        <p:spPr/>
        <p:txBody>
          <a:bodyPr/>
          <a:lstStyle/>
          <a:p>
            <a:r>
              <a:rPr lang="en-IN" b="1" dirty="0"/>
              <a:t>INTRODUCTION</a:t>
            </a:r>
            <a:br>
              <a:rPr lang="en-IN" b="1" dirty="0"/>
            </a:br>
            <a:endParaRPr lang="en-IN" dirty="0"/>
          </a:p>
        </p:txBody>
      </p:sp>
      <p:sp>
        <p:nvSpPr>
          <p:cNvPr id="3" name="Content Placeholder 2">
            <a:extLst>
              <a:ext uri="{FF2B5EF4-FFF2-40B4-BE49-F238E27FC236}">
                <a16:creationId xmlns:a16="http://schemas.microsoft.com/office/drawing/2014/main" id="{B17615EC-4E79-4DC9-E2B7-2DAAE282F480}"/>
              </a:ext>
            </a:extLst>
          </p:cNvPr>
          <p:cNvSpPr>
            <a:spLocks noGrp="1"/>
          </p:cNvSpPr>
          <p:nvPr>
            <p:ph idx="1"/>
          </p:nvPr>
        </p:nvSpPr>
        <p:spPr>
          <a:xfrm>
            <a:off x="765313" y="1510748"/>
            <a:ext cx="10588487" cy="4666215"/>
          </a:xfrm>
        </p:spPr>
        <p:txBody>
          <a:bodyPr>
            <a:normAutofit fontScale="92500" lnSpcReduction="20000"/>
          </a:bodyPr>
          <a:lstStyle/>
          <a:p>
            <a:r>
              <a:rPr lang="en-IN" cap="small" dirty="0"/>
              <a:t>Solar energy adoption is rapidly increasing due to environmental concerns and the shift toward renewable energy sources. Many users generate excess electricity that can be sold back to the grid. However, electricity prices fluctuate throughout the day depending on demand and supply. Without proper forecasting, users often sell energy at low prices. This project introduces a smart system that uses data analysis and forecasting to improve energy trading decisions.</a:t>
            </a:r>
            <a:endParaRPr lang="en-IN" dirty="0"/>
          </a:p>
          <a:p>
            <a:pPr marL="0" indent="0">
              <a:buNone/>
            </a:pPr>
            <a:r>
              <a:rPr lang="en-IN" cap="small" dirty="0"/>
              <a:t> </a:t>
            </a:r>
            <a:endParaRPr lang="en-IN" dirty="0"/>
          </a:p>
          <a:p>
            <a:pPr lvl="0"/>
            <a:r>
              <a:rPr lang="en-IN" cap="small" dirty="0"/>
              <a:t>Growth of renewable energy </a:t>
            </a:r>
            <a:endParaRPr lang="en-IN" dirty="0"/>
          </a:p>
          <a:p>
            <a:pPr lvl="0"/>
            <a:r>
              <a:rPr lang="en-IN" cap="small" dirty="0"/>
              <a:t>Excess solar energy can be sold </a:t>
            </a:r>
            <a:endParaRPr lang="en-IN" dirty="0"/>
          </a:p>
          <a:p>
            <a:pPr lvl="0"/>
            <a:r>
              <a:rPr lang="en-IN" cap="small" dirty="0"/>
              <a:t>Prices vary throughout the day </a:t>
            </a:r>
            <a:endParaRPr lang="en-IN" dirty="0"/>
          </a:p>
          <a:p>
            <a:pPr lvl="0"/>
            <a:r>
              <a:rPr lang="en-IN" cap="small" dirty="0"/>
              <a:t>Lack of planning reduces profit </a:t>
            </a:r>
            <a:endParaRPr lang="en-IN" dirty="0"/>
          </a:p>
          <a:p>
            <a:pPr lvl="0"/>
            <a:r>
              <a:rPr lang="en-IN" cap="small" dirty="0"/>
              <a:t>Smart system improves decisions</a:t>
            </a:r>
            <a:endParaRPr lang="en-IN" dirty="0"/>
          </a:p>
          <a:p>
            <a:endParaRPr lang="en-IN" dirty="0"/>
          </a:p>
        </p:txBody>
      </p:sp>
    </p:spTree>
    <p:extLst>
      <p:ext uri="{BB962C8B-B14F-4D97-AF65-F5344CB8AC3E}">
        <p14:creationId xmlns:p14="http://schemas.microsoft.com/office/powerpoint/2010/main" val="3165212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DE108-17AC-F451-0C13-7998C08ADE15}"/>
              </a:ext>
            </a:extLst>
          </p:cNvPr>
          <p:cNvSpPr>
            <a:spLocks noGrp="1"/>
          </p:cNvSpPr>
          <p:nvPr>
            <p:ph type="title"/>
          </p:nvPr>
        </p:nvSpPr>
        <p:spPr/>
        <p:txBody>
          <a:bodyPr/>
          <a:lstStyle/>
          <a:p>
            <a:r>
              <a:rPr lang="en-IN" b="1" dirty="0"/>
              <a:t>PROBLEM STATEMENT</a:t>
            </a:r>
            <a:br>
              <a:rPr lang="en-IN" b="1" dirty="0"/>
            </a:br>
            <a:endParaRPr lang="en-IN" dirty="0"/>
          </a:p>
        </p:txBody>
      </p:sp>
      <p:sp>
        <p:nvSpPr>
          <p:cNvPr id="3" name="Content Placeholder 2">
            <a:extLst>
              <a:ext uri="{FF2B5EF4-FFF2-40B4-BE49-F238E27FC236}">
                <a16:creationId xmlns:a16="http://schemas.microsoft.com/office/drawing/2014/main" id="{B40BCD9E-C2CA-E35D-57A3-3FD885D61531}"/>
              </a:ext>
            </a:extLst>
          </p:cNvPr>
          <p:cNvSpPr>
            <a:spLocks noGrp="1"/>
          </p:cNvSpPr>
          <p:nvPr>
            <p:ph idx="1"/>
          </p:nvPr>
        </p:nvSpPr>
        <p:spPr>
          <a:xfrm>
            <a:off x="735496" y="1371600"/>
            <a:ext cx="10618304" cy="4805363"/>
          </a:xfrm>
        </p:spPr>
        <p:txBody>
          <a:bodyPr>
            <a:normAutofit/>
          </a:bodyPr>
          <a:lstStyle/>
          <a:p>
            <a:r>
              <a:rPr lang="en-IN" cap="small" dirty="0"/>
              <a:t>Energy trading decisions are currently inefficient because users lack proper tools to predict electricity price changes. Most users sell electricity without considering peak pricing periods, resulting in financial loss. Additionally, there is no automated system to guide when to sell, store, or buy electricity. This leads to poor energy management and reduced profitability.</a:t>
            </a:r>
            <a:endParaRPr lang="en-IN" dirty="0"/>
          </a:p>
          <a:p>
            <a:pPr lvl="0"/>
            <a:r>
              <a:rPr lang="en-IN" cap="small" dirty="0"/>
              <a:t>No accurate price prediction system </a:t>
            </a:r>
            <a:endParaRPr lang="en-IN" dirty="0"/>
          </a:p>
          <a:p>
            <a:pPr lvl="0"/>
            <a:r>
              <a:rPr lang="en-IN" cap="small" dirty="0"/>
              <a:t>Selling happens at non-optimal times </a:t>
            </a:r>
            <a:endParaRPr lang="en-IN" dirty="0"/>
          </a:p>
          <a:p>
            <a:pPr lvl="0"/>
            <a:r>
              <a:rPr lang="en-IN" cap="small" dirty="0"/>
              <a:t>No automation in decision-making </a:t>
            </a:r>
            <a:endParaRPr lang="en-IN" dirty="0"/>
          </a:p>
          <a:p>
            <a:pPr lvl="0"/>
            <a:r>
              <a:rPr lang="en-IN" cap="small" dirty="0"/>
              <a:t>Leads to lower revenue </a:t>
            </a:r>
            <a:endParaRPr lang="en-IN" dirty="0"/>
          </a:p>
          <a:p>
            <a:r>
              <a:rPr lang="en-IN" cap="small" dirty="0"/>
              <a:t>Inefficient energy usage</a:t>
            </a:r>
            <a:r>
              <a:rPr lang="en-IN" dirty="0"/>
              <a:t> </a:t>
            </a:r>
          </a:p>
        </p:txBody>
      </p:sp>
    </p:spTree>
    <p:extLst>
      <p:ext uri="{BB962C8B-B14F-4D97-AF65-F5344CB8AC3E}">
        <p14:creationId xmlns:p14="http://schemas.microsoft.com/office/powerpoint/2010/main" val="3764661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FB1B5-773F-F398-AA8E-0A9FBB7A73FD}"/>
              </a:ext>
            </a:extLst>
          </p:cNvPr>
          <p:cNvSpPr>
            <a:spLocks noGrp="1"/>
          </p:cNvSpPr>
          <p:nvPr>
            <p:ph type="title"/>
          </p:nvPr>
        </p:nvSpPr>
        <p:spPr/>
        <p:txBody>
          <a:bodyPr/>
          <a:lstStyle/>
          <a:p>
            <a:r>
              <a:rPr lang="en-IN" dirty="0"/>
              <a:t> OBJECTIVE</a:t>
            </a:r>
          </a:p>
        </p:txBody>
      </p:sp>
      <p:sp>
        <p:nvSpPr>
          <p:cNvPr id="3" name="Content Placeholder 2">
            <a:extLst>
              <a:ext uri="{FF2B5EF4-FFF2-40B4-BE49-F238E27FC236}">
                <a16:creationId xmlns:a16="http://schemas.microsoft.com/office/drawing/2014/main" id="{DD0D6053-09FE-2B4D-F463-626DC59695B9}"/>
              </a:ext>
            </a:extLst>
          </p:cNvPr>
          <p:cNvSpPr>
            <a:spLocks noGrp="1"/>
          </p:cNvSpPr>
          <p:nvPr>
            <p:ph idx="1"/>
          </p:nvPr>
        </p:nvSpPr>
        <p:spPr/>
        <p:txBody>
          <a:bodyPr>
            <a:normAutofit fontScale="85000" lnSpcReduction="20000"/>
          </a:bodyPr>
          <a:lstStyle/>
          <a:p>
            <a:r>
              <a:rPr lang="en-IN" cap="small" dirty="0"/>
              <a:t>The main objective of this project is to develop a forecasting and optimization system for energy trading. It aims to predict electricity prices accurately and identify the best times for selling and buying energy. The system also focuses on improving energy storage decisions to maximize overall efficiency and profit.</a:t>
            </a:r>
            <a:endParaRPr lang="en-IN" dirty="0"/>
          </a:p>
          <a:p>
            <a:pPr lvl="0"/>
            <a:r>
              <a:rPr lang="en-IN" cap="small" dirty="0"/>
              <a:t>Forecast electricity prices </a:t>
            </a:r>
            <a:endParaRPr lang="en-IN" dirty="0"/>
          </a:p>
          <a:p>
            <a:pPr lvl="0"/>
            <a:r>
              <a:rPr lang="en-IN" cap="small" dirty="0"/>
              <a:t>Identify best selling times </a:t>
            </a:r>
            <a:endParaRPr lang="en-IN" dirty="0"/>
          </a:p>
          <a:p>
            <a:pPr lvl="0"/>
            <a:r>
              <a:rPr lang="en-IN" cap="small" dirty="0"/>
              <a:t>Optimize buying decisions </a:t>
            </a:r>
            <a:endParaRPr lang="en-IN" dirty="0"/>
          </a:p>
          <a:p>
            <a:pPr lvl="0"/>
            <a:r>
              <a:rPr lang="en-IN" cap="small" dirty="0"/>
              <a:t>Improve battery usage </a:t>
            </a:r>
            <a:endParaRPr lang="en-IN" dirty="0"/>
          </a:p>
          <a:p>
            <a:pPr lvl="0"/>
            <a:r>
              <a:rPr lang="en-IN" cap="small" dirty="0"/>
              <a:t>Increase overall profit</a:t>
            </a:r>
            <a:endParaRPr lang="en-IN" dirty="0"/>
          </a:p>
          <a:p>
            <a:r>
              <a:rPr lang="en-IN" dirty="0"/>
              <a:t> </a:t>
            </a:r>
          </a:p>
        </p:txBody>
      </p:sp>
    </p:spTree>
    <p:extLst>
      <p:ext uri="{BB962C8B-B14F-4D97-AF65-F5344CB8AC3E}">
        <p14:creationId xmlns:p14="http://schemas.microsoft.com/office/powerpoint/2010/main" val="2330261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6B75-5CE6-4B65-B209-6483B76D496D}"/>
              </a:ext>
            </a:extLst>
          </p:cNvPr>
          <p:cNvSpPr>
            <a:spLocks noGrp="1"/>
          </p:cNvSpPr>
          <p:nvPr>
            <p:ph type="title"/>
          </p:nvPr>
        </p:nvSpPr>
        <p:spPr/>
        <p:txBody>
          <a:bodyPr/>
          <a:lstStyle/>
          <a:p>
            <a:r>
              <a:rPr lang="en-IN" dirty="0"/>
              <a:t>DATA OVERVIEW</a:t>
            </a:r>
          </a:p>
        </p:txBody>
      </p:sp>
      <p:sp>
        <p:nvSpPr>
          <p:cNvPr id="3" name="Content Placeholder 2">
            <a:extLst>
              <a:ext uri="{FF2B5EF4-FFF2-40B4-BE49-F238E27FC236}">
                <a16:creationId xmlns:a16="http://schemas.microsoft.com/office/drawing/2014/main" id="{C983F930-5E46-AB43-D2DF-7C37FD5099E2}"/>
              </a:ext>
            </a:extLst>
          </p:cNvPr>
          <p:cNvSpPr>
            <a:spLocks noGrp="1"/>
          </p:cNvSpPr>
          <p:nvPr>
            <p:ph idx="1"/>
          </p:nvPr>
        </p:nvSpPr>
        <p:spPr/>
        <p:txBody>
          <a:bodyPr>
            <a:normAutofit fontScale="85000" lnSpcReduction="20000"/>
          </a:bodyPr>
          <a:lstStyle/>
          <a:p>
            <a:r>
              <a:rPr lang="en-IN" cap="small" dirty="0"/>
              <a:t>The dataset used in this project includes historical electricity prices, timestamps, demand values, seasonal information, and day types. These features help in understanding how electricity prices vary over time. Two separate datasets are used for sell-back and buyback price prediction.</a:t>
            </a:r>
            <a:endParaRPr lang="en-IN" dirty="0"/>
          </a:p>
          <a:p>
            <a:pPr lvl="0"/>
            <a:r>
              <a:rPr lang="en-IN" cap="small" dirty="0"/>
              <a:t>Includes time, demand, and price data </a:t>
            </a:r>
            <a:endParaRPr lang="en-IN" dirty="0"/>
          </a:p>
          <a:p>
            <a:pPr lvl="0"/>
            <a:r>
              <a:rPr lang="en-IN" cap="small" dirty="0"/>
              <a:t>Seasonal and day-type information </a:t>
            </a:r>
            <a:endParaRPr lang="en-IN" dirty="0"/>
          </a:p>
          <a:p>
            <a:pPr lvl="0"/>
            <a:r>
              <a:rPr lang="en-IN" cap="small" dirty="0"/>
              <a:t>Two datasets: sell-back &amp; buyback </a:t>
            </a:r>
            <a:endParaRPr lang="en-IN" dirty="0"/>
          </a:p>
          <a:p>
            <a:pPr lvl="0"/>
            <a:r>
              <a:rPr lang="en-IN" cap="small" dirty="0"/>
              <a:t>Helps </a:t>
            </a:r>
            <a:r>
              <a:rPr lang="en-IN" cap="small" dirty="0" err="1"/>
              <a:t>analyze</a:t>
            </a:r>
            <a:r>
              <a:rPr lang="en-IN" cap="small" dirty="0"/>
              <a:t> price patterns </a:t>
            </a:r>
            <a:endParaRPr lang="en-IN" dirty="0"/>
          </a:p>
          <a:p>
            <a:pPr lvl="0"/>
            <a:r>
              <a:rPr lang="en-IN" cap="small" dirty="0"/>
              <a:t>Supports accurate forecasting</a:t>
            </a:r>
            <a:endParaRPr lang="en-IN" dirty="0"/>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1657574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58668-3DD0-0E31-1F6D-0FAD70EDA7DC}"/>
              </a:ext>
            </a:extLst>
          </p:cNvPr>
          <p:cNvSpPr>
            <a:spLocks noGrp="1"/>
          </p:cNvSpPr>
          <p:nvPr>
            <p:ph type="title"/>
          </p:nvPr>
        </p:nvSpPr>
        <p:spPr/>
        <p:txBody>
          <a:bodyPr/>
          <a:lstStyle/>
          <a:p>
            <a:r>
              <a:rPr lang="en-IN" b="1" dirty="0"/>
              <a:t>DATA PREPROCESSING</a:t>
            </a:r>
            <a:br>
              <a:rPr lang="en-IN" b="1" dirty="0"/>
            </a:br>
            <a:endParaRPr lang="en-IN" dirty="0"/>
          </a:p>
        </p:txBody>
      </p:sp>
      <p:sp>
        <p:nvSpPr>
          <p:cNvPr id="3" name="Content Placeholder 2">
            <a:extLst>
              <a:ext uri="{FF2B5EF4-FFF2-40B4-BE49-F238E27FC236}">
                <a16:creationId xmlns:a16="http://schemas.microsoft.com/office/drawing/2014/main" id="{4C2942E3-640B-F34C-7948-55B80BB5B5C7}"/>
              </a:ext>
            </a:extLst>
          </p:cNvPr>
          <p:cNvSpPr>
            <a:spLocks noGrp="1"/>
          </p:cNvSpPr>
          <p:nvPr>
            <p:ph idx="1"/>
          </p:nvPr>
        </p:nvSpPr>
        <p:spPr>
          <a:xfrm>
            <a:off x="838200" y="1282148"/>
            <a:ext cx="10515600" cy="4894815"/>
          </a:xfrm>
        </p:spPr>
        <p:txBody>
          <a:bodyPr/>
          <a:lstStyle/>
          <a:p>
            <a:r>
              <a:rPr lang="en-IN" cap="small" dirty="0"/>
              <a:t>Before building the model, the data is cleaned and prepared for analysis. Timestamps are converted into useful features such as hour and day type. Categorical variables like season are encoded into numerical values. The data is then organized in a time-series format to ensure accurate forecasting.</a:t>
            </a:r>
            <a:endParaRPr lang="en-IN" dirty="0"/>
          </a:p>
          <a:p>
            <a:pPr lvl="0"/>
            <a:r>
              <a:rPr lang="en-IN" cap="small" dirty="0"/>
              <a:t>Data cleaning and formatting </a:t>
            </a:r>
            <a:endParaRPr lang="en-IN" dirty="0"/>
          </a:p>
          <a:p>
            <a:pPr lvl="0"/>
            <a:r>
              <a:rPr lang="en-IN" cap="small" dirty="0"/>
              <a:t>Extracted hour and day features </a:t>
            </a:r>
            <a:endParaRPr lang="en-IN" dirty="0"/>
          </a:p>
          <a:p>
            <a:pPr lvl="0"/>
            <a:r>
              <a:rPr lang="en-IN" cap="small" dirty="0"/>
              <a:t>Encoded categorical variables </a:t>
            </a:r>
            <a:endParaRPr lang="en-IN" dirty="0"/>
          </a:p>
          <a:p>
            <a:pPr lvl="0"/>
            <a:r>
              <a:rPr lang="en-IN" cap="small" dirty="0"/>
              <a:t>Organized time-series data </a:t>
            </a:r>
            <a:endParaRPr lang="en-IN" dirty="0"/>
          </a:p>
          <a:p>
            <a:pPr lvl="0"/>
            <a:r>
              <a:rPr lang="en-IN" cap="small" dirty="0"/>
              <a:t>Selected important features</a:t>
            </a:r>
            <a:endParaRPr lang="en-IN" dirty="0"/>
          </a:p>
          <a:p>
            <a:endParaRPr lang="en-IN" dirty="0"/>
          </a:p>
        </p:txBody>
      </p:sp>
    </p:spTree>
    <p:extLst>
      <p:ext uri="{BB962C8B-B14F-4D97-AF65-F5344CB8AC3E}">
        <p14:creationId xmlns:p14="http://schemas.microsoft.com/office/powerpoint/2010/main" val="2930068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574F-74EA-7348-44DA-50314B045A70}"/>
              </a:ext>
            </a:extLst>
          </p:cNvPr>
          <p:cNvSpPr>
            <a:spLocks noGrp="1"/>
          </p:cNvSpPr>
          <p:nvPr>
            <p:ph type="title"/>
          </p:nvPr>
        </p:nvSpPr>
        <p:spPr/>
        <p:txBody>
          <a:bodyPr/>
          <a:lstStyle/>
          <a:p>
            <a:r>
              <a:rPr lang="en-IN" dirty="0"/>
              <a:t>MODELING APPROACH</a:t>
            </a:r>
          </a:p>
        </p:txBody>
      </p:sp>
      <p:sp>
        <p:nvSpPr>
          <p:cNvPr id="3" name="Content Placeholder 2">
            <a:extLst>
              <a:ext uri="{FF2B5EF4-FFF2-40B4-BE49-F238E27FC236}">
                <a16:creationId xmlns:a16="http://schemas.microsoft.com/office/drawing/2014/main" id="{21FCE83F-7165-ADB6-A7ED-C4BEFD5D4B7F}"/>
              </a:ext>
            </a:extLst>
          </p:cNvPr>
          <p:cNvSpPr>
            <a:spLocks noGrp="1"/>
          </p:cNvSpPr>
          <p:nvPr>
            <p:ph idx="1"/>
          </p:nvPr>
        </p:nvSpPr>
        <p:spPr>
          <a:xfrm>
            <a:off x="838200" y="1361661"/>
            <a:ext cx="10515600" cy="4815302"/>
          </a:xfrm>
        </p:spPr>
        <p:txBody>
          <a:bodyPr/>
          <a:lstStyle/>
          <a:p>
            <a:r>
              <a:rPr lang="en-IN" cap="small" dirty="0"/>
              <a:t>The project uses the SARIMAX model, which is a powerful time-series forecasting method. It captures trends, seasonality, and external factors like demand. This makes it suitable for predicting electricity prices, which change over time.</a:t>
            </a:r>
            <a:endParaRPr lang="en-IN" dirty="0"/>
          </a:p>
          <a:p>
            <a:pPr lvl="0"/>
            <a:r>
              <a:rPr lang="en-IN" cap="small" dirty="0"/>
              <a:t>Uses SARIMAX model </a:t>
            </a:r>
            <a:endParaRPr lang="en-IN" dirty="0"/>
          </a:p>
          <a:p>
            <a:pPr lvl="0"/>
            <a:r>
              <a:rPr lang="en-IN" cap="small" dirty="0"/>
              <a:t>Captures trends and seasonality </a:t>
            </a:r>
            <a:endParaRPr lang="en-IN" dirty="0"/>
          </a:p>
          <a:p>
            <a:pPr lvl="0"/>
            <a:r>
              <a:rPr lang="en-IN" cap="small" dirty="0"/>
              <a:t>Uses external variables (demand, time) </a:t>
            </a:r>
            <a:endParaRPr lang="en-IN" dirty="0"/>
          </a:p>
          <a:p>
            <a:pPr lvl="0"/>
            <a:r>
              <a:rPr lang="en-IN" cap="small" dirty="0"/>
              <a:t>Better than simple regression </a:t>
            </a:r>
            <a:endParaRPr lang="en-IN" dirty="0"/>
          </a:p>
          <a:p>
            <a:pPr lvl="0"/>
            <a:r>
              <a:rPr lang="en-IN" cap="small" dirty="0"/>
              <a:t>Ideal for time-based data</a:t>
            </a:r>
            <a:endParaRPr lang="en-IN" dirty="0"/>
          </a:p>
          <a:p>
            <a:pPr lvl="0"/>
            <a:r>
              <a:rPr lang="en-IN" cap="small" dirty="0"/>
              <a:t>Improves prediction accuracy</a:t>
            </a:r>
            <a:endParaRPr lang="en-IN" dirty="0"/>
          </a:p>
          <a:p>
            <a:endParaRPr lang="en-IN" dirty="0"/>
          </a:p>
        </p:txBody>
      </p:sp>
    </p:spTree>
    <p:extLst>
      <p:ext uri="{BB962C8B-B14F-4D97-AF65-F5344CB8AC3E}">
        <p14:creationId xmlns:p14="http://schemas.microsoft.com/office/powerpoint/2010/main" val="410490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923CD-5879-3228-7119-4BE5383B8BD7}"/>
              </a:ext>
            </a:extLst>
          </p:cNvPr>
          <p:cNvSpPr>
            <a:spLocks noGrp="1"/>
          </p:cNvSpPr>
          <p:nvPr>
            <p:ph type="title"/>
          </p:nvPr>
        </p:nvSpPr>
        <p:spPr/>
        <p:txBody>
          <a:bodyPr/>
          <a:lstStyle/>
          <a:p>
            <a:r>
              <a:rPr lang="en-IN" dirty="0"/>
              <a:t>MODEL CONFIGURATION</a:t>
            </a:r>
          </a:p>
        </p:txBody>
      </p:sp>
      <p:sp>
        <p:nvSpPr>
          <p:cNvPr id="3" name="Content Placeholder 2">
            <a:extLst>
              <a:ext uri="{FF2B5EF4-FFF2-40B4-BE49-F238E27FC236}">
                <a16:creationId xmlns:a16="http://schemas.microsoft.com/office/drawing/2014/main" id="{5E5C5202-BB05-3A38-4E8A-1191E22F2914}"/>
              </a:ext>
            </a:extLst>
          </p:cNvPr>
          <p:cNvSpPr>
            <a:spLocks noGrp="1"/>
          </p:cNvSpPr>
          <p:nvPr>
            <p:ph idx="1"/>
          </p:nvPr>
        </p:nvSpPr>
        <p:spPr>
          <a:xfrm>
            <a:off x="838200" y="1570383"/>
            <a:ext cx="10515600" cy="4606580"/>
          </a:xfrm>
        </p:spPr>
        <p:txBody>
          <a:bodyPr>
            <a:normAutofit/>
          </a:bodyPr>
          <a:lstStyle/>
          <a:p>
            <a:r>
              <a:rPr lang="en-IN" cap="small" dirty="0"/>
              <a:t>The SARIMAX model is configured with specific parameters to capture both short-term and seasonal patterns. A 24-hour seasonal cycle is used to reflect daily price variations. External features such as demand and time are included to improve prediction accuracy.</a:t>
            </a:r>
            <a:endParaRPr lang="en-IN" dirty="0"/>
          </a:p>
          <a:p>
            <a:pPr lvl="0"/>
            <a:r>
              <a:rPr lang="en-IN" cap="small" dirty="0"/>
              <a:t>Order: (1,1,1) </a:t>
            </a:r>
            <a:endParaRPr lang="en-IN" dirty="0"/>
          </a:p>
          <a:p>
            <a:pPr lvl="0"/>
            <a:r>
              <a:rPr lang="en-IN" cap="small" dirty="0"/>
              <a:t>Seasonal Order: (1,1,1,24) </a:t>
            </a:r>
            <a:endParaRPr lang="en-IN" dirty="0"/>
          </a:p>
          <a:p>
            <a:pPr lvl="0"/>
            <a:r>
              <a:rPr lang="en-IN" cap="small" dirty="0"/>
              <a:t>24-hour seasonal cycle </a:t>
            </a:r>
            <a:endParaRPr lang="en-IN" dirty="0"/>
          </a:p>
          <a:p>
            <a:pPr lvl="0"/>
            <a:r>
              <a:rPr lang="en-IN" cap="small" dirty="0"/>
              <a:t>Uses demand and time features </a:t>
            </a:r>
            <a:endParaRPr lang="en-IN" dirty="0"/>
          </a:p>
          <a:p>
            <a:pPr lvl="0"/>
            <a:r>
              <a:rPr lang="en-IN" cap="small" dirty="0"/>
              <a:t>Improves prediction accuracy</a:t>
            </a:r>
            <a:endParaRPr lang="en-IN" dirty="0"/>
          </a:p>
          <a:p>
            <a:endParaRPr lang="en-IN" dirty="0"/>
          </a:p>
        </p:txBody>
      </p:sp>
    </p:spTree>
    <p:extLst>
      <p:ext uri="{BB962C8B-B14F-4D97-AF65-F5344CB8AC3E}">
        <p14:creationId xmlns:p14="http://schemas.microsoft.com/office/powerpoint/2010/main" val="2321995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ABD4B-7559-392D-7A1E-A459C037E6EE}"/>
              </a:ext>
            </a:extLst>
          </p:cNvPr>
          <p:cNvSpPr>
            <a:spLocks noGrp="1"/>
          </p:cNvSpPr>
          <p:nvPr>
            <p:ph type="title"/>
          </p:nvPr>
        </p:nvSpPr>
        <p:spPr>
          <a:xfrm>
            <a:off x="838200" y="365125"/>
            <a:ext cx="10515600" cy="1543188"/>
          </a:xfrm>
        </p:spPr>
        <p:txBody>
          <a:bodyPr/>
          <a:lstStyle/>
          <a:p>
            <a:r>
              <a:rPr lang="en-IN" b="1" dirty="0"/>
              <a:t>FORECASTING PROCESS</a:t>
            </a:r>
            <a:br>
              <a:rPr lang="en-IN" b="1" dirty="0"/>
            </a:br>
            <a:endParaRPr lang="en-IN" dirty="0"/>
          </a:p>
        </p:txBody>
      </p:sp>
      <p:sp>
        <p:nvSpPr>
          <p:cNvPr id="3" name="Content Placeholder 2">
            <a:extLst>
              <a:ext uri="{FF2B5EF4-FFF2-40B4-BE49-F238E27FC236}">
                <a16:creationId xmlns:a16="http://schemas.microsoft.com/office/drawing/2014/main" id="{17B20FC2-91EF-AD12-E50C-B132B8BC5345}"/>
              </a:ext>
            </a:extLst>
          </p:cNvPr>
          <p:cNvSpPr>
            <a:spLocks noGrp="1"/>
          </p:cNvSpPr>
          <p:nvPr>
            <p:ph idx="1"/>
          </p:nvPr>
        </p:nvSpPr>
        <p:spPr>
          <a:xfrm>
            <a:off x="838200" y="1461052"/>
            <a:ext cx="10515600" cy="4715911"/>
          </a:xfrm>
        </p:spPr>
        <p:txBody>
          <a:bodyPr>
            <a:normAutofit/>
          </a:bodyPr>
          <a:lstStyle/>
          <a:p>
            <a:r>
              <a:rPr lang="en-IN" cap="small" dirty="0"/>
              <a:t>The model is trained using historical data and then used to predict future electricity prices. Future timestamps are generated, and corresponding features are created. The model outputs predicted prices for future time periods, which are used for decision-making.</a:t>
            </a:r>
            <a:endParaRPr lang="en-IN" dirty="0"/>
          </a:p>
          <a:p>
            <a:pPr lvl="0"/>
            <a:r>
              <a:rPr lang="en-IN" cap="small" dirty="0"/>
              <a:t>Train model on past data </a:t>
            </a:r>
            <a:endParaRPr lang="en-IN" dirty="0"/>
          </a:p>
          <a:p>
            <a:pPr lvl="0"/>
            <a:r>
              <a:rPr lang="en-IN" cap="small" dirty="0"/>
              <a:t>Generate future timestamps </a:t>
            </a:r>
            <a:endParaRPr lang="en-IN" dirty="0"/>
          </a:p>
          <a:p>
            <a:pPr lvl="0"/>
            <a:r>
              <a:rPr lang="en-IN" cap="small" dirty="0"/>
              <a:t>Create future features </a:t>
            </a:r>
            <a:endParaRPr lang="en-IN" dirty="0"/>
          </a:p>
          <a:p>
            <a:pPr lvl="0"/>
            <a:r>
              <a:rPr lang="en-IN" cap="small" dirty="0"/>
              <a:t>Predict future prices </a:t>
            </a:r>
            <a:endParaRPr lang="en-IN" dirty="0"/>
          </a:p>
          <a:p>
            <a:pPr lvl="0"/>
            <a:r>
              <a:rPr lang="en-IN" cap="small" dirty="0"/>
              <a:t>Supports smart decisions</a:t>
            </a:r>
            <a:endParaRPr lang="en-IN" dirty="0"/>
          </a:p>
          <a:p>
            <a:r>
              <a:rPr lang="en-IN" dirty="0"/>
              <a:t> </a:t>
            </a:r>
          </a:p>
          <a:p>
            <a:endParaRPr lang="en-IN" dirty="0"/>
          </a:p>
        </p:txBody>
      </p:sp>
    </p:spTree>
    <p:extLst>
      <p:ext uri="{BB962C8B-B14F-4D97-AF65-F5344CB8AC3E}">
        <p14:creationId xmlns:p14="http://schemas.microsoft.com/office/powerpoint/2010/main" val="148480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A917-957A-54E5-582D-62140F1A6CDC}"/>
              </a:ext>
            </a:extLst>
          </p:cNvPr>
          <p:cNvSpPr>
            <a:spLocks noGrp="1"/>
          </p:cNvSpPr>
          <p:nvPr>
            <p:ph type="title"/>
          </p:nvPr>
        </p:nvSpPr>
        <p:spPr>
          <a:xfrm>
            <a:off x="526774" y="139149"/>
            <a:ext cx="10827026" cy="1043608"/>
          </a:xfrm>
        </p:spPr>
        <p:txBody>
          <a:bodyPr>
            <a:normAutofit/>
          </a:bodyPr>
          <a:lstStyle/>
          <a:p>
            <a:r>
              <a:rPr lang="en-IN" b="1" dirty="0"/>
              <a:t>SELL-BACK-FORECAST</a:t>
            </a:r>
            <a:br>
              <a:rPr lang="en-IN" b="1" dirty="0"/>
            </a:br>
            <a:endParaRPr lang="en-IN" dirty="0"/>
          </a:p>
        </p:txBody>
      </p:sp>
      <p:sp>
        <p:nvSpPr>
          <p:cNvPr id="3" name="Content Placeholder 2">
            <a:extLst>
              <a:ext uri="{FF2B5EF4-FFF2-40B4-BE49-F238E27FC236}">
                <a16:creationId xmlns:a16="http://schemas.microsoft.com/office/drawing/2014/main" id="{BE6FFF12-16FB-72A9-A411-D68109653C0C}"/>
              </a:ext>
            </a:extLst>
          </p:cNvPr>
          <p:cNvSpPr>
            <a:spLocks noGrp="1"/>
          </p:cNvSpPr>
          <p:nvPr>
            <p:ph idx="1"/>
          </p:nvPr>
        </p:nvSpPr>
        <p:spPr>
          <a:xfrm>
            <a:off x="526774" y="894522"/>
            <a:ext cx="10827026" cy="5282441"/>
          </a:xfrm>
        </p:spPr>
        <p:txBody>
          <a:bodyPr>
            <a:normAutofit/>
          </a:bodyPr>
          <a:lstStyle/>
          <a:p>
            <a:r>
              <a:rPr lang="en-IN" cap="small" dirty="0"/>
              <a:t>The sell-back price forecast shows how electricity prices change throughout the day. Prices are higher during peak demand hours and lower during off-peak times. This helps identify the best times to sell electricity for maximum profit.</a:t>
            </a:r>
            <a:endParaRPr lang="en-IN" dirty="0"/>
          </a:p>
          <a:p>
            <a:pPr lvl="0"/>
            <a:r>
              <a:rPr lang="en-IN" cap="small" dirty="0"/>
              <a:t>Prices follow daily patterns </a:t>
            </a:r>
            <a:endParaRPr lang="en-IN" dirty="0"/>
          </a:p>
          <a:p>
            <a:pPr lvl="0"/>
            <a:r>
              <a:rPr lang="en-IN" cap="small" dirty="0"/>
              <a:t>Higher during peak demand </a:t>
            </a:r>
            <a:endParaRPr lang="en-IN" dirty="0"/>
          </a:p>
          <a:p>
            <a:pPr lvl="0"/>
            <a:r>
              <a:rPr lang="en-IN" cap="small" dirty="0"/>
              <a:t>Lower during off-peak hours </a:t>
            </a:r>
            <a:endParaRPr lang="en-IN" dirty="0"/>
          </a:p>
          <a:p>
            <a:pPr lvl="0"/>
            <a:r>
              <a:rPr lang="en-IN" cap="small" dirty="0"/>
              <a:t>Helps identify best selling time </a:t>
            </a:r>
            <a:endParaRPr lang="en-IN" dirty="0"/>
          </a:p>
          <a:p>
            <a:pPr lvl="0"/>
            <a:r>
              <a:rPr lang="en-IN" cap="small" dirty="0"/>
              <a:t>Improves revenue</a:t>
            </a:r>
          </a:p>
          <a:p>
            <a:pPr lvl="0"/>
            <a:r>
              <a:rPr lang="en-IN" dirty="0"/>
              <a:t>Peak during high demand </a:t>
            </a:r>
          </a:p>
          <a:p>
            <a:pPr lvl="0"/>
            <a:r>
              <a:rPr lang="en-IN" dirty="0"/>
              <a:t>Daily price pattern </a:t>
            </a:r>
          </a:p>
          <a:p>
            <a:pPr lvl="0"/>
            <a:r>
              <a:rPr lang="en-IN" dirty="0"/>
              <a:t>Best time to sell identified </a:t>
            </a:r>
          </a:p>
          <a:p>
            <a:pPr lvl="0"/>
            <a:endParaRPr lang="en-IN" dirty="0"/>
          </a:p>
          <a:p>
            <a:endParaRPr lang="en-IN" dirty="0"/>
          </a:p>
        </p:txBody>
      </p:sp>
      <p:pic>
        <p:nvPicPr>
          <p:cNvPr id="5" name="Picture 4">
            <a:extLst>
              <a:ext uri="{FF2B5EF4-FFF2-40B4-BE49-F238E27FC236}">
                <a16:creationId xmlns:a16="http://schemas.microsoft.com/office/drawing/2014/main" id="{D9EC6076-A675-1834-E3E1-9F092FCFB7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4783" y="2236304"/>
            <a:ext cx="5443330" cy="3727174"/>
          </a:xfrm>
          <a:prstGeom prst="rect">
            <a:avLst/>
          </a:prstGeom>
        </p:spPr>
      </p:pic>
    </p:spTree>
    <p:extLst>
      <p:ext uri="{BB962C8B-B14F-4D97-AF65-F5344CB8AC3E}">
        <p14:creationId xmlns:p14="http://schemas.microsoft.com/office/powerpoint/2010/main" val="898704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87A1-8B86-9A43-8677-46DD94C4498C}"/>
              </a:ext>
            </a:extLst>
          </p:cNvPr>
          <p:cNvSpPr>
            <a:spLocks noGrp="1"/>
          </p:cNvSpPr>
          <p:nvPr>
            <p:ph type="title"/>
          </p:nvPr>
        </p:nvSpPr>
        <p:spPr>
          <a:xfrm>
            <a:off x="646043" y="99391"/>
            <a:ext cx="10707757" cy="1093305"/>
          </a:xfrm>
        </p:spPr>
        <p:txBody>
          <a:bodyPr>
            <a:normAutofit/>
          </a:bodyPr>
          <a:lstStyle/>
          <a:p>
            <a:r>
              <a:rPr lang="en-IN" b="1" dirty="0"/>
              <a:t>BUYBACK FORECAST</a:t>
            </a:r>
            <a:br>
              <a:rPr lang="en-IN" b="1" dirty="0"/>
            </a:br>
            <a:endParaRPr lang="en-IN" dirty="0"/>
          </a:p>
        </p:txBody>
      </p:sp>
      <p:sp>
        <p:nvSpPr>
          <p:cNvPr id="3" name="Content Placeholder 2">
            <a:extLst>
              <a:ext uri="{FF2B5EF4-FFF2-40B4-BE49-F238E27FC236}">
                <a16:creationId xmlns:a16="http://schemas.microsoft.com/office/drawing/2014/main" id="{061426DB-33A4-CF0E-1626-E8A2AAC0E45E}"/>
              </a:ext>
            </a:extLst>
          </p:cNvPr>
          <p:cNvSpPr>
            <a:spLocks noGrp="1"/>
          </p:cNvSpPr>
          <p:nvPr>
            <p:ph idx="1"/>
          </p:nvPr>
        </p:nvSpPr>
        <p:spPr>
          <a:xfrm>
            <a:off x="566530" y="805070"/>
            <a:ext cx="10787270" cy="5371893"/>
          </a:xfrm>
        </p:spPr>
        <p:txBody>
          <a:bodyPr>
            <a:normAutofit/>
          </a:bodyPr>
          <a:lstStyle/>
          <a:p>
            <a:r>
              <a:rPr lang="en-IN" cap="small" dirty="0"/>
              <a:t>The buyback price forecast helps determine when electricity can be purchased at the lowest cost. Prices are typically lower during periods of low demand, making it beneficial to buy energy during those times.</a:t>
            </a:r>
            <a:endParaRPr lang="en-IN" dirty="0"/>
          </a:p>
          <a:p>
            <a:pPr lvl="0"/>
            <a:r>
              <a:rPr lang="en-IN" cap="small" dirty="0"/>
              <a:t>Identifies low-price periods </a:t>
            </a:r>
            <a:endParaRPr lang="en-IN" dirty="0"/>
          </a:p>
          <a:p>
            <a:pPr lvl="0"/>
            <a:r>
              <a:rPr lang="en-IN" cap="small" dirty="0"/>
              <a:t>Prices drop during low demand </a:t>
            </a:r>
            <a:endParaRPr lang="en-IN" dirty="0"/>
          </a:p>
          <a:p>
            <a:pPr lvl="0"/>
            <a:r>
              <a:rPr lang="en-IN" cap="small" dirty="0"/>
              <a:t>Helps reduce energy cost </a:t>
            </a:r>
            <a:endParaRPr lang="en-IN" dirty="0"/>
          </a:p>
          <a:p>
            <a:pPr lvl="0"/>
            <a:r>
              <a:rPr lang="en-IN" cap="small" dirty="0"/>
              <a:t>Supports better planning </a:t>
            </a:r>
            <a:endParaRPr lang="en-IN" dirty="0"/>
          </a:p>
          <a:p>
            <a:pPr lvl="0"/>
            <a:r>
              <a:rPr lang="en-IN" cap="small" dirty="0"/>
              <a:t>Complements selling strategy</a:t>
            </a:r>
            <a:endParaRPr lang="en-IN" dirty="0"/>
          </a:p>
          <a:p>
            <a:pPr lvl="0"/>
            <a:r>
              <a:rPr lang="en-IN" cap="small" dirty="0"/>
              <a:t>  Low during off-peak hours </a:t>
            </a:r>
            <a:endParaRPr lang="en-IN" dirty="0"/>
          </a:p>
          <a:p>
            <a:pPr lvl="0"/>
            <a:r>
              <a:rPr lang="en-IN" cap="small" dirty="0"/>
              <a:t>  Helps reduce cost </a:t>
            </a:r>
            <a:endParaRPr lang="en-IN" dirty="0"/>
          </a:p>
          <a:p>
            <a:pPr lvl="0"/>
            <a:r>
              <a:rPr lang="en-IN" cap="small" dirty="0"/>
              <a:t>  Supports better planning</a:t>
            </a:r>
            <a:endParaRPr lang="en-IN" dirty="0"/>
          </a:p>
          <a:p>
            <a:endParaRPr lang="en-IN" dirty="0"/>
          </a:p>
        </p:txBody>
      </p:sp>
      <p:pic>
        <p:nvPicPr>
          <p:cNvPr id="5" name="Picture 4">
            <a:extLst>
              <a:ext uri="{FF2B5EF4-FFF2-40B4-BE49-F238E27FC236}">
                <a16:creationId xmlns:a16="http://schemas.microsoft.com/office/drawing/2014/main" id="{0F92E576-7D1C-BCE3-E4C0-4972EFC99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5514" y="1791322"/>
            <a:ext cx="5449956" cy="4087467"/>
          </a:xfrm>
          <a:prstGeom prst="rect">
            <a:avLst/>
          </a:prstGeom>
        </p:spPr>
      </p:pic>
    </p:spTree>
    <p:extLst>
      <p:ext uri="{BB962C8B-B14F-4D97-AF65-F5344CB8AC3E}">
        <p14:creationId xmlns:p14="http://schemas.microsoft.com/office/powerpoint/2010/main" val="2193506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1C7DB-BD2A-04DE-5A48-AF3D0618E68D}"/>
              </a:ext>
            </a:extLst>
          </p:cNvPr>
          <p:cNvSpPr>
            <a:spLocks noGrp="1"/>
          </p:cNvSpPr>
          <p:nvPr>
            <p:ph type="title"/>
          </p:nvPr>
        </p:nvSpPr>
        <p:spPr/>
        <p:txBody>
          <a:bodyPr/>
          <a:lstStyle/>
          <a:p>
            <a:r>
              <a:rPr lang="en-IN" b="1" dirty="0"/>
              <a:t>OPTIMIZATION STRATERGY</a:t>
            </a:r>
            <a:br>
              <a:rPr lang="en-IN" b="1" dirty="0"/>
            </a:br>
            <a:endParaRPr lang="en-IN" dirty="0"/>
          </a:p>
        </p:txBody>
      </p:sp>
      <p:sp>
        <p:nvSpPr>
          <p:cNvPr id="3" name="Content Placeholder 2">
            <a:extLst>
              <a:ext uri="{FF2B5EF4-FFF2-40B4-BE49-F238E27FC236}">
                <a16:creationId xmlns:a16="http://schemas.microsoft.com/office/drawing/2014/main" id="{E8E787CE-2D41-C411-A52B-E2C3BB712B5B}"/>
              </a:ext>
            </a:extLst>
          </p:cNvPr>
          <p:cNvSpPr>
            <a:spLocks noGrp="1"/>
          </p:cNvSpPr>
          <p:nvPr>
            <p:ph idx="1"/>
          </p:nvPr>
        </p:nvSpPr>
        <p:spPr/>
        <p:txBody>
          <a:bodyPr>
            <a:normAutofit lnSpcReduction="10000"/>
          </a:bodyPr>
          <a:lstStyle/>
          <a:p>
            <a:r>
              <a:rPr lang="en-IN" cap="small" dirty="0"/>
              <a:t>Based on the forecasted prices, an optimization strategy is implemented. The system decides whether to sell, store, or buy electricity depending on price levels. This ensures maximum profit and efficient energy usage.</a:t>
            </a:r>
            <a:endParaRPr lang="en-IN" dirty="0"/>
          </a:p>
          <a:p>
            <a:pPr lvl="0"/>
            <a:r>
              <a:rPr lang="en-IN" cap="small" dirty="0"/>
              <a:t>Sell at high prices </a:t>
            </a:r>
            <a:endParaRPr lang="en-IN" dirty="0"/>
          </a:p>
          <a:p>
            <a:pPr lvl="0"/>
            <a:r>
              <a:rPr lang="en-IN" cap="small" dirty="0"/>
              <a:t>Store energy at medium prices </a:t>
            </a:r>
            <a:endParaRPr lang="en-IN" dirty="0"/>
          </a:p>
          <a:p>
            <a:pPr lvl="0"/>
            <a:r>
              <a:rPr lang="en-IN" cap="small" dirty="0"/>
              <a:t>Buy at low prices </a:t>
            </a:r>
            <a:endParaRPr lang="en-IN" dirty="0"/>
          </a:p>
          <a:p>
            <a:pPr lvl="0"/>
            <a:r>
              <a:rPr lang="en-IN" cap="small" dirty="0"/>
              <a:t>Acts like smart agent </a:t>
            </a:r>
            <a:endParaRPr lang="en-IN" dirty="0"/>
          </a:p>
          <a:p>
            <a:pPr lvl="0"/>
            <a:r>
              <a:rPr lang="en-IN" cap="small" dirty="0"/>
              <a:t>Maximizes efficiency</a:t>
            </a:r>
            <a:endParaRPr lang="en-IN" dirty="0"/>
          </a:p>
          <a:p>
            <a:endParaRPr lang="en-IN" dirty="0"/>
          </a:p>
        </p:txBody>
      </p:sp>
    </p:spTree>
    <p:extLst>
      <p:ext uri="{BB962C8B-B14F-4D97-AF65-F5344CB8AC3E}">
        <p14:creationId xmlns:p14="http://schemas.microsoft.com/office/powerpoint/2010/main" val="62620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2113-353D-329A-3D35-3497BAF8EF2D}"/>
              </a:ext>
            </a:extLst>
          </p:cNvPr>
          <p:cNvSpPr>
            <a:spLocks noGrp="1"/>
          </p:cNvSpPr>
          <p:nvPr>
            <p:ph type="title"/>
          </p:nvPr>
        </p:nvSpPr>
        <p:spPr/>
        <p:txBody>
          <a:bodyPr/>
          <a:lstStyle/>
          <a:p>
            <a:r>
              <a:rPr lang="en-IN" b="1" dirty="0"/>
              <a:t>RESULTS &amp; OUTCOMES</a:t>
            </a:r>
            <a:br>
              <a:rPr lang="en-IN" b="1" dirty="0"/>
            </a:br>
            <a:endParaRPr lang="en-IN" dirty="0"/>
          </a:p>
        </p:txBody>
      </p:sp>
      <p:sp>
        <p:nvSpPr>
          <p:cNvPr id="3" name="Content Placeholder 2">
            <a:extLst>
              <a:ext uri="{FF2B5EF4-FFF2-40B4-BE49-F238E27FC236}">
                <a16:creationId xmlns:a16="http://schemas.microsoft.com/office/drawing/2014/main" id="{CDB847E7-5DDC-378A-50E8-2081779267F5}"/>
              </a:ext>
            </a:extLst>
          </p:cNvPr>
          <p:cNvSpPr>
            <a:spLocks noGrp="1"/>
          </p:cNvSpPr>
          <p:nvPr>
            <p:ph idx="1"/>
          </p:nvPr>
        </p:nvSpPr>
        <p:spPr>
          <a:xfrm>
            <a:off x="838200" y="1252330"/>
            <a:ext cx="10515600" cy="4924633"/>
          </a:xfrm>
        </p:spPr>
        <p:txBody>
          <a:bodyPr/>
          <a:lstStyle/>
          <a:p>
            <a:r>
              <a:rPr lang="en-IN" cap="small" dirty="0"/>
              <a:t>The implementation of this system results in improved energy trading decisions. Users can achieve higher profits and better utilize their energy resources. The system also reduces energy waste and enhances overall efficiency.</a:t>
            </a:r>
            <a:endParaRPr lang="en-IN" dirty="0"/>
          </a:p>
          <a:p>
            <a:pPr lvl="0"/>
            <a:r>
              <a:rPr lang="en-IN" cap="small" dirty="0"/>
              <a:t>Increased revenue (15–35%) </a:t>
            </a:r>
            <a:endParaRPr lang="en-IN" dirty="0"/>
          </a:p>
          <a:p>
            <a:pPr lvl="0"/>
            <a:r>
              <a:rPr lang="en-IN" cap="small" dirty="0"/>
              <a:t>Better battery usage </a:t>
            </a:r>
            <a:endParaRPr lang="en-IN" dirty="0"/>
          </a:p>
          <a:p>
            <a:pPr lvl="0"/>
            <a:r>
              <a:rPr lang="en-IN" cap="small" dirty="0"/>
              <a:t>Reduced energy waste </a:t>
            </a:r>
            <a:endParaRPr lang="en-IN" dirty="0"/>
          </a:p>
          <a:p>
            <a:pPr lvl="0"/>
            <a:r>
              <a:rPr lang="en-IN" cap="small" dirty="0"/>
              <a:t>Improved efficiency </a:t>
            </a:r>
            <a:endParaRPr lang="en-IN" dirty="0"/>
          </a:p>
          <a:p>
            <a:pPr lvl="0"/>
            <a:r>
              <a:rPr lang="en-IN" cap="small" dirty="0"/>
              <a:t>Smart decision-making</a:t>
            </a:r>
            <a:endParaRPr lang="en-IN" dirty="0"/>
          </a:p>
          <a:p>
            <a:endParaRPr lang="en-IN" dirty="0"/>
          </a:p>
        </p:txBody>
      </p:sp>
    </p:spTree>
    <p:extLst>
      <p:ext uri="{BB962C8B-B14F-4D97-AF65-F5344CB8AC3E}">
        <p14:creationId xmlns:p14="http://schemas.microsoft.com/office/powerpoint/2010/main" val="1282498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949F-8796-10BD-7859-4D52E753B717}"/>
              </a:ext>
            </a:extLst>
          </p:cNvPr>
          <p:cNvSpPr>
            <a:spLocks noGrp="1"/>
          </p:cNvSpPr>
          <p:nvPr>
            <p:ph type="title"/>
          </p:nvPr>
        </p:nvSpPr>
        <p:spPr>
          <a:xfrm>
            <a:off x="685800" y="365125"/>
            <a:ext cx="10668000" cy="1235075"/>
          </a:xfrm>
        </p:spPr>
        <p:txBody>
          <a:bodyPr>
            <a:normAutofit/>
          </a:bodyPr>
          <a:lstStyle/>
          <a:p>
            <a:r>
              <a:rPr lang="en-IN" b="1" dirty="0"/>
              <a:t>APPLICATIONS</a:t>
            </a:r>
            <a:br>
              <a:rPr lang="en-IN" b="1" dirty="0"/>
            </a:br>
            <a:endParaRPr lang="en-IN" dirty="0"/>
          </a:p>
        </p:txBody>
      </p:sp>
      <p:sp>
        <p:nvSpPr>
          <p:cNvPr id="3" name="Content Placeholder 2">
            <a:extLst>
              <a:ext uri="{FF2B5EF4-FFF2-40B4-BE49-F238E27FC236}">
                <a16:creationId xmlns:a16="http://schemas.microsoft.com/office/drawing/2014/main" id="{FF11CC31-99E5-6F33-4CAA-7CF6FC00CE05}"/>
              </a:ext>
            </a:extLst>
          </p:cNvPr>
          <p:cNvSpPr>
            <a:spLocks noGrp="1"/>
          </p:cNvSpPr>
          <p:nvPr>
            <p:ph idx="1"/>
          </p:nvPr>
        </p:nvSpPr>
        <p:spPr>
          <a:xfrm>
            <a:off x="685800" y="1371600"/>
            <a:ext cx="10668000" cy="4815303"/>
          </a:xfrm>
        </p:spPr>
        <p:txBody>
          <a:bodyPr/>
          <a:lstStyle/>
          <a:p>
            <a:r>
              <a:rPr lang="en-IN" cap="small" dirty="0"/>
              <a:t>This system can be applied in various real-world scenarios, including smart homes, microgrids, and energy trading platforms. It is useful for both individual users and large-scale energy providers.</a:t>
            </a:r>
            <a:endParaRPr lang="en-IN" dirty="0"/>
          </a:p>
          <a:p>
            <a:pPr lvl="0"/>
            <a:r>
              <a:rPr lang="en-IN" cap="small" dirty="0"/>
              <a:t>Smart homes </a:t>
            </a:r>
            <a:endParaRPr lang="en-IN" dirty="0"/>
          </a:p>
          <a:p>
            <a:pPr lvl="0"/>
            <a:r>
              <a:rPr lang="en-IN" cap="small" dirty="0"/>
              <a:t>Solar panel users </a:t>
            </a:r>
            <a:endParaRPr lang="en-IN" dirty="0"/>
          </a:p>
          <a:p>
            <a:pPr lvl="0"/>
            <a:r>
              <a:rPr lang="en-IN" cap="small" dirty="0"/>
              <a:t>Microgrids </a:t>
            </a:r>
            <a:endParaRPr lang="en-IN" dirty="0"/>
          </a:p>
          <a:p>
            <a:pPr lvl="0"/>
            <a:r>
              <a:rPr lang="en-IN" cap="small" dirty="0"/>
              <a:t>Energy trading platforms </a:t>
            </a:r>
            <a:endParaRPr lang="en-IN" dirty="0"/>
          </a:p>
          <a:p>
            <a:pPr lvl="0"/>
            <a:r>
              <a:rPr lang="en-IN" cap="small" dirty="0"/>
              <a:t>Utility companies</a:t>
            </a:r>
            <a:endParaRPr lang="en-IN" dirty="0"/>
          </a:p>
          <a:p>
            <a:endParaRPr lang="en-IN" dirty="0"/>
          </a:p>
        </p:txBody>
      </p:sp>
    </p:spTree>
    <p:extLst>
      <p:ext uri="{BB962C8B-B14F-4D97-AF65-F5344CB8AC3E}">
        <p14:creationId xmlns:p14="http://schemas.microsoft.com/office/powerpoint/2010/main" val="1740902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51BEC-FC79-2846-1E7B-7C440CB9191D}"/>
              </a:ext>
            </a:extLst>
          </p:cNvPr>
          <p:cNvSpPr>
            <a:spLocks noGrp="1"/>
          </p:cNvSpPr>
          <p:nvPr>
            <p:ph type="title"/>
          </p:nvPr>
        </p:nvSpPr>
        <p:spPr/>
        <p:txBody>
          <a:bodyPr/>
          <a:lstStyle/>
          <a:p>
            <a:r>
              <a:rPr lang="en-IN" b="1" dirty="0"/>
              <a:t>FUTURE WORK</a:t>
            </a:r>
            <a:br>
              <a:rPr lang="en-IN" b="1" dirty="0"/>
            </a:br>
            <a:endParaRPr lang="en-IN" dirty="0"/>
          </a:p>
        </p:txBody>
      </p:sp>
      <p:sp>
        <p:nvSpPr>
          <p:cNvPr id="3" name="Content Placeholder 2">
            <a:extLst>
              <a:ext uri="{FF2B5EF4-FFF2-40B4-BE49-F238E27FC236}">
                <a16:creationId xmlns:a16="http://schemas.microsoft.com/office/drawing/2014/main" id="{C74402C1-1832-7D3C-BBAC-D976F6FEF05B}"/>
              </a:ext>
            </a:extLst>
          </p:cNvPr>
          <p:cNvSpPr>
            <a:spLocks noGrp="1"/>
          </p:cNvSpPr>
          <p:nvPr>
            <p:ph idx="1"/>
          </p:nvPr>
        </p:nvSpPr>
        <p:spPr>
          <a:xfrm>
            <a:off x="838200" y="1361661"/>
            <a:ext cx="10515600" cy="4815302"/>
          </a:xfrm>
        </p:spPr>
        <p:txBody>
          <a:bodyPr/>
          <a:lstStyle/>
          <a:p>
            <a:r>
              <a:rPr lang="en-IN" cap="small" dirty="0"/>
              <a:t>Future improvements can include integrating weather data for better solar predictions and using advanced machine learning models like LSTM. A real-time system with automated decision-making can also be developed.</a:t>
            </a:r>
            <a:endParaRPr lang="en-IN" dirty="0"/>
          </a:p>
          <a:p>
            <a:pPr lvl="0"/>
            <a:r>
              <a:rPr lang="en-IN" cap="small" dirty="0"/>
              <a:t>Add weather data </a:t>
            </a:r>
            <a:endParaRPr lang="en-IN" dirty="0"/>
          </a:p>
          <a:p>
            <a:pPr lvl="0"/>
            <a:r>
              <a:rPr lang="en-IN" cap="small" dirty="0"/>
              <a:t>Use AI/Deep learning models </a:t>
            </a:r>
            <a:endParaRPr lang="en-IN" dirty="0"/>
          </a:p>
          <a:p>
            <a:pPr lvl="0"/>
            <a:r>
              <a:rPr lang="en-IN" cap="small" dirty="0"/>
              <a:t>Real-time forecasting </a:t>
            </a:r>
            <a:endParaRPr lang="en-IN" dirty="0"/>
          </a:p>
          <a:p>
            <a:pPr lvl="0"/>
            <a:r>
              <a:rPr lang="en-IN" cap="small" dirty="0"/>
              <a:t>Automated trading system </a:t>
            </a:r>
            <a:endParaRPr lang="en-IN" dirty="0"/>
          </a:p>
          <a:p>
            <a:pPr lvl="0"/>
            <a:r>
              <a:rPr lang="en-IN" cap="small" dirty="0"/>
              <a:t>Advanced optimization</a:t>
            </a:r>
            <a:endParaRPr lang="en-IN" dirty="0"/>
          </a:p>
          <a:p>
            <a:endParaRPr lang="en-IN" dirty="0"/>
          </a:p>
        </p:txBody>
      </p:sp>
    </p:spTree>
    <p:extLst>
      <p:ext uri="{BB962C8B-B14F-4D97-AF65-F5344CB8AC3E}">
        <p14:creationId xmlns:p14="http://schemas.microsoft.com/office/powerpoint/2010/main" val="1040145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496F-2D89-5517-3925-CE79E34A7C56}"/>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8291A44-F4BA-D68D-84C8-22467797A24A}"/>
              </a:ext>
            </a:extLst>
          </p:cNvPr>
          <p:cNvSpPr>
            <a:spLocks noGrp="1"/>
          </p:cNvSpPr>
          <p:nvPr>
            <p:ph idx="1"/>
          </p:nvPr>
        </p:nvSpPr>
        <p:spPr>
          <a:xfrm>
            <a:off x="838200" y="1391478"/>
            <a:ext cx="10515600" cy="4785485"/>
          </a:xfrm>
        </p:spPr>
        <p:txBody>
          <a:bodyPr/>
          <a:lstStyle/>
          <a:p>
            <a:r>
              <a:rPr lang="en-IN" b="1" cap="small" dirty="0"/>
              <a:t>This project demonstrates how forecasting and optimization can significantly improve energy trading decisions. By using SARIMAX, the system effectively predicts electricity prices and helps users maximize profit while promoting sustainable energy usage.</a:t>
            </a:r>
            <a:endParaRPr lang="en-IN" b="1" dirty="0"/>
          </a:p>
          <a:p>
            <a:pPr lvl="0"/>
            <a:r>
              <a:rPr lang="en-IN" cap="small" dirty="0"/>
              <a:t>Forecasting improves decisions </a:t>
            </a:r>
            <a:endParaRPr lang="en-IN" dirty="0"/>
          </a:p>
          <a:p>
            <a:pPr lvl="0"/>
            <a:r>
              <a:rPr lang="en-IN" cap="small" dirty="0"/>
              <a:t>SARIMAX is effective </a:t>
            </a:r>
            <a:endParaRPr lang="en-IN" dirty="0"/>
          </a:p>
          <a:p>
            <a:pPr lvl="0"/>
            <a:r>
              <a:rPr lang="en-IN" cap="small" dirty="0"/>
              <a:t>Increases profit </a:t>
            </a:r>
            <a:endParaRPr lang="en-IN" dirty="0"/>
          </a:p>
          <a:p>
            <a:pPr lvl="0"/>
            <a:r>
              <a:rPr lang="en-IN" cap="small" dirty="0"/>
              <a:t>Enhances efficiency </a:t>
            </a:r>
            <a:endParaRPr lang="en-IN" dirty="0"/>
          </a:p>
          <a:p>
            <a:r>
              <a:rPr lang="en-IN" cap="small" dirty="0"/>
              <a:t>Supports sustainability</a:t>
            </a:r>
            <a:endParaRPr lang="en-IN" dirty="0"/>
          </a:p>
        </p:txBody>
      </p:sp>
    </p:spTree>
    <p:extLst>
      <p:ext uri="{BB962C8B-B14F-4D97-AF65-F5344CB8AC3E}">
        <p14:creationId xmlns:p14="http://schemas.microsoft.com/office/powerpoint/2010/main" val="199443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386A3D-9085-88EA-DFFD-5CB26C21434A}"/>
              </a:ext>
            </a:extLst>
          </p:cNvPr>
          <p:cNvSpPr txBox="1"/>
          <p:nvPr/>
        </p:nvSpPr>
        <p:spPr>
          <a:xfrm>
            <a:off x="4522304" y="2584174"/>
            <a:ext cx="3011557" cy="707886"/>
          </a:xfrm>
          <a:prstGeom prst="rect">
            <a:avLst/>
          </a:prstGeom>
          <a:noFill/>
        </p:spPr>
        <p:txBody>
          <a:bodyPr wrap="square" rtlCol="0">
            <a:spAutoFit/>
          </a:bodyPr>
          <a:lstStyle/>
          <a:p>
            <a:r>
              <a:rPr lang="en-US" sz="4000" dirty="0"/>
              <a:t>THANK YOU </a:t>
            </a:r>
            <a:endParaRPr lang="en-IN" sz="4000" dirty="0"/>
          </a:p>
        </p:txBody>
      </p:sp>
    </p:spTree>
    <p:extLst>
      <p:ext uri="{BB962C8B-B14F-4D97-AF65-F5344CB8AC3E}">
        <p14:creationId xmlns:p14="http://schemas.microsoft.com/office/powerpoint/2010/main" val="353020503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17</TotalTime>
  <Words>1139</Words>
  <Application>Microsoft Office PowerPoint</Application>
  <PresentationFormat>Widescreen</PresentationFormat>
  <Paragraphs>135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Rockwell</vt:lpstr>
      <vt:lpstr>Gallery</vt:lpstr>
      <vt:lpstr>Optimal Energy Sell-Back Agent </vt:lpstr>
      <vt:lpstr>ABSTRACT </vt:lpstr>
      <vt:lpstr>INTRODUCTION </vt:lpstr>
      <vt:lpstr>PROBLEM STATEMENT </vt:lpstr>
      <vt:lpstr> OBJECTIVE</vt:lpstr>
      <vt:lpstr>DATA OVERVIEW</vt:lpstr>
      <vt:lpstr>DATA PREPROCESSING </vt:lpstr>
      <vt:lpstr>MODELING APPROACH</vt:lpstr>
      <vt:lpstr>MODEL CONFIGURATION</vt:lpstr>
      <vt:lpstr>FORECASTING PROCESS </vt:lpstr>
      <vt:lpstr>SELL-BACK-FORECAST </vt:lpstr>
      <vt:lpstr>BUYBACK FORECAST </vt:lpstr>
      <vt:lpstr>OPTIMIZATION STRATERGY </vt:lpstr>
      <vt:lpstr>RESULTS &amp; OUTCOMES </vt:lpstr>
      <vt:lpstr>APPLICATIONS </vt:lpstr>
      <vt:lpstr>FUTURE WORK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alavika merugu</dc:creator>
  <cp:lastModifiedBy>alavika merugu</cp:lastModifiedBy>
  <cp:revision>1</cp:revision>
  <dcterms:created xsi:type="dcterms:W3CDTF">2026-04-01T06:29:50Z</dcterms:created>
  <dcterms:modified xsi:type="dcterms:W3CDTF">2026-04-01T08:53:03Z</dcterms:modified>
</cp:coreProperties>
</file>